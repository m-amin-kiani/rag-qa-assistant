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37942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011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426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446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02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961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349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66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22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636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991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0984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592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2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6289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636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59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 rtl="1"/>
            <a:r>
              <a:rPr dirty="0"/>
              <a:t>🇫🇷 France RAG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Mohmmad Amin Kiani</a:t>
            </a:r>
          </a:p>
          <a:p>
            <a:r>
              <a:rPr lang="en-US" dirty="0"/>
              <a:t>Radmehr Aghakhani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27181"/>
            <a:ext cx="7797662" cy="1151965"/>
          </a:xfrm>
        </p:spPr>
        <p:txBody>
          <a:bodyPr/>
          <a:lstStyle/>
          <a:p>
            <a:r>
              <a:rPr dirty="0"/>
              <a:t>1. Chunking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rPr dirty="0"/>
              <a:t>Strategy: Fixed-size overlapping chunks (100 words, 20 overlap)</a:t>
            </a:r>
            <a:br>
              <a:rPr dirty="0"/>
            </a:br>
            <a:r>
              <a:rPr dirty="0"/>
              <a:t>- Prevents breaking context across chunks</a:t>
            </a:r>
            <a:br>
              <a:rPr dirty="0"/>
            </a:br>
            <a:r>
              <a:rPr dirty="0"/>
              <a:t>- Keeps each chunk answerable independently</a:t>
            </a:r>
            <a:br>
              <a:rPr dirty="0"/>
            </a:br>
            <a:r>
              <a:rPr dirty="0"/>
              <a:t>- Overlap helps retain sentence continuity</a:t>
            </a:r>
            <a:br>
              <a:rPr dirty="0"/>
            </a:br>
            <a:br>
              <a:rPr dirty="0"/>
            </a:br>
            <a:r>
              <a:rPr lang="en-US" dirty="0"/>
              <a:t> </a:t>
            </a:r>
            <a:r>
              <a:rPr dirty="0"/>
              <a:t>Why 100? Best trade-off between granularity and context window.</a:t>
            </a:r>
            <a:br>
              <a:rPr dirty="0"/>
            </a:br>
            <a:r>
              <a:rPr dirty="0"/>
              <a:t>Why overlap? It mitigates cutoff errors during embedding windowing.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499189"/>
            <a:ext cx="7797662" cy="1151965"/>
          </a:xfrm>
        </p:spPr>
        <p:txBody>
          <a:bodyPr/>
          <a:lstStyle/>
          <a:p>
            <a:r>
              <a:rPr dirty="0"/>
              <a:t>2. Embedding 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rPr dirty="0"/>
              <a:t>Chosen: all-MiniLM-L6-v2</a:t>
            </a:r>
            <a:br>
              <a:rPr dirty="0"/>
            </a:br>
            <a:r>
              <a:rPr dirty="0"/>
              <a:t>- Dim: 384 | Speed: Fast | Accuracy: Strong baseline</a:t>
            </a:r>
            <a:br>
              <a:rPr dirty="0"/>
            </a:br>
            <a:r>
              <a:rPr dirty="0"/>
              <a:t>- Compatible with FAISS </a:t>
            </a:r>
            <a:r>
              <a:rPr dirty="0" err="1"/>
              <a:t>FlatIP</a:t>
            </a:r>
            <a:r>
              <a:rPr dirty="0"/>
              <a:t> for real-time search</a:t>
            </a:r>
            <a:br>
              <a:rPr dirty="0"/>
            </a:br>
            <a:br>
              <a:rPr dirty="0"/>
            </a:br>
            <a:r>
              <a:rPr dirty="0"/>
              <a:t>Compared to: m2-bert-80M-8k-retrieval</a:t>
            </a:r>
            <a:br>
              <a:rPr dirty="0"/>
            </a:br>
            <a:r>
              <a:rPr dirty="0"/>
              <a:t>- Pros: Larger context window</a:t>
            </a:r>
            <a:br>
              <a:rPr dirty="0"/>
            </a:br>
            <a:r>
              <a:rPr dirty="0"/>
              <a:t>- Cons: Slower, larger index, GPU-intensive</a:t>
            </a:r>
            <a:br>
              <a:rPr dirty="0"/>
            </a:br>
            <a:endParaRPr lang="fa-IR" dirty="0"/>
          </a:p>
          <a:p>
            <a:pPr algn="l">
              <a:defRPr sz="2000"/>
            </a:pPr>
            <a:r>
              <a:rPr dirty="0"/>
              <a:t>Trade-off: </a:t>
            </a:r>
            <a:r>
              <a:rPr dirty="0" err="1"/>
              <a:t>MiniLM</a:t>
            </a:r>
            <a:r>
              <a:rPr dirty="0"/>
              <a:t> is ideal for low-latency semantic search.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36511"/>
            <a:ext cx="7797662" cy="1151965"/>
          </a:xfrm>
        </p:spPr>
        <p:txBody>
          <a:bodyPr/>
          <a:lstStyle/>
          <a:p>
            <a:r>
              <a:rPr dirty="0"/>
              <a:t>3. Hybrid Retrieval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rPr dirty="0"/>
              <a:t>Base: Cosine similarity with FAISS over dense vectors</a:t>
            </a:r>
            <a:endParaRPr lang="fa-IR" dirty="0"/>
          </a:p>
          <a:p>
            <a:pPr algn="l">
              <a:defRPr sz="2000"/>
            </a:pPr>
            <a:r>
              <a:rPr dirty="0"/>
              <a:t>Filter: Metadata-aware filtering by category (e.g., 'Geography')</a:t>
            </a:r>
            <a:br>
              <a:rPr dirty="0"/>
            </a:br>
            <a:br>
              <a:rPr dirty="0"/>
            </a:br>
            <a:r>
              <a:rPr dirty="0"/>
              <a:t>Example:</a:t>
            </a:r>
            <a:br>
              <a:rPr dirty="0"/>
            </a:br>
            <a:r>
              <a:rPr dirty="0"/>
              <a:t>Query: 'What are the mountains in France?'</a:t>
            </a:r>
            <a:br>
              <a:rPr dirty="0"/>
            </a:br>
            <a:r>
              <a:rPr dirty="0"/>
              <a:t>→ Filtered to 'Mountains', 'Alps', 'Massif Central'</a:t>
            </a:r>
            <a:br>
              <a:rPr dirty="0"/>
            </a:br>
            <a:r>
              <a:rPr dirty="0"/>
              <a:t>→ Improves precision by discarding unrelated soil/climate chunks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08519"/>
            <a:ext cx="7797662" cy="1151965"/>
          </a:xfrm>
        </p:spPr>
        <p:txBody>
          <a:bodyPr/>
          <a:lstStyle/>
          <a:p>
            <a:r>
              <a:rPr dirty="0"/>
              <a:t>4. Prompt Evolution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rPr dirty="0"/>
              <a:t> Initial Prompt: Open-ended LLM use → hallucinations observed</a:t>
            </a:r>
            <a:br>
              <a:rPr dirty="0"/>
            </a:br>
            <a:br>
              <a:rPr dirty="0"/>
            </a:br>
            <a:r>
              <a:rPr dirty="0"/>
              <a:t>Final Prompt:</a:t>
            </a:r>
            <a:br>
              <a:rPr dirty="0"/>
            </a:br>
            <a:r>
              <a:rPr dirty="0"/>
              <a:t>"You are a helpful assistant. Use ONLY the provided context. If unsure, say 'I don’t know'."</a:t>
            </a:r>
            <a:br>
              <a:rPr dirty="0"/>
            </a:br>
            <a:br>
              <a:rPr dirty="0"/>
            </a:br>
            <a:r>
              <a:rPr dirty="0"/>
              <a:t>Benefits:</a:t>
            </a:r>
            <a:br>
              <a:rPr dirty="0"/>
            </a:br>
            <a:r>
              <a:rPr dirty="0"/>
              <a:t>- Prevents over-generation</a:t>
            </a:r>
            <a:br>
              <a:rPr dirty="0"/>
            </a:br>
            <a:r>
              <a:rPr dirty="0"/>
              <a:t>- Keeps answers grounded in retrieved facts</a:t>
            </a:r>
            <a:br>
              <a:rPr dirty="0"/>
            </a:br>
            <a:r>
              <a:rPr dirty="0"/>
              <a:t>- Enables traceability &amp; safety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480527"/>
            <a:ext cx="7797662" cy="1151965"/>
          </a:xfrm>
        </p:spPr>
        <p:txBody>
          <a:bodyPr/>
          <a:lstStyle/>
          <a:p>
            <a:r>
              <a:rPr dirty="0"/>
              <a:t>5. Performance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rPr dirty="0"/>
              <a:t>Strong Case:</a:t>
            </a:r>
            <a:br>
              <a:rPr dirty="0"/>
            </a:br>
            <a:r>
              <a:rPr dirty="0"/>
              <a:t>Query: 'What are the major mountain ranges in France?'</a:t>
            </a:r>
            <a:br>
              <a:rPr dirty="0"/>
            </a:br>
            <a:r>
              <a:rPr dirty="0"/>
              <a:t>→ Chunks: Alps, Massif Central, Hercynian → Clear, accurate answer</a:t>
            </a:r>
            <a:br>
              <a:rPr dirty="0"/>
            </a:br>
            <a:br>
              <a:rPr dirty="0"/>
            </a:br>
            <a:r>
              <a:rPr dirty="0"/>
              <a:t>Weak Case:</a:t>
            </a:r>
            <a:br>
              <a:rPr dirty="0"/>
            </a:br>
            <a:r>
              <a:rPr dirty="0"/>
              <a:t>Query: 'Why is France's soil so fertile?'</a:t>
            </a:r>
            <a:br>
              <a:rPr dirty="0"/>
            </a:br>
            <a:r>
              <a:rPr dirty="0"/>
              <a:t>→ Chunks mixed: climate/soil not aligned → vague LLM output</a:t>
            </a:r>
            <a:br>
              <a:rPr dirty="0"/>
            </a:br>
            <a:endParaRPr lang="fa-IR" dirty="0"/>
          </a:p>
          <a:p>
            <a:pPr algn="l">
              <a:defRPr sz="2000"/>
            </a:pPr>
            <a:r>
              <a:rPr dirty="0"/>
              <a:t> Insight: LLM depends heavily on top-k chunk relevance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13187"/>
            <a:ext cx="7797662" cy="1151965"/>
          </a:xfrm>
        </p:spPr>
        <p:txBody>
          <a:bodyPr/>
          <a:lstStyle/>
          <a:p>
            <a:r>
              <a:rPr dirty="0"/>
              <a:t>6.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rPr dirty="0"/>
              <a:t>Improve Reranking:</a:t>
            </a:r>
            <a:br>
              <a:rPr dirty="0"/>
            </a:br>
            <a:r>
              <a:rPr dirty="0"/>
              <a:t>- Use </a:t>
            </a:r>
            <a:r>
              <a:rPr dirty="0" err="1"/>
              <a:t>reranker</a:t>
            </a:r>
            <a:r>
              <a:rPr dirty="0"/>
              <a:t> LLM after top-k retrieval to boost precision</a:t>
            </a:r>
            <a:br>
              <a:rPr dirty="0"/>
            </a:br>
            <a:br>
              <a:rPr dirty="0"/>
            </a:br>
            <a:r>
              <a:rPr dirty="0"/>
              <a:t>Language Support:</a:t>
            </a:r>
            <a:br>
              <a:rPr dirty="0"/>
            </a:br>
            <a:r>
              <a:rPr dirty="0"/>
              <a:t>- Add multilingual chunking &amp; query understanding</a:t>
            </a:r>
            <a:br>
              <a:rPr dirty="0"/>
            </a:br>
            <a:br>
              <a:rPr dirty="0"/>
            </a:br>
            <a:r>
              <a:rPr dirty="0"/>
              <a:t>Vector Store Upgrade:</a:t>
            </a:r>
            <a:br>
              <a:rPr dirty="0"/>
            </a:br>
            <a:r>
              <a:rPr dirty="0"/>
              <a:t>- Replace FAISS with persistent </a:t>
            </a:r>
            <a:r>
              <a:rPr dirty="0" err="1"/>
              <a:t>ChromaDB</a:t>
            </a:r>
            <a:r>
              <a:rPr dirty="0"/>
              <a:t> or </a:t>
            </a:r>
            <a:r>
              <a:rPr dirty="0" err="1"/>
              <a:t>Qdrant</a:t>
            </a:r>
            <a:br>
              <a:rPr dirty="0"/>
            </a:br>
            <a:br>
              <a:rPr dirty="0"/>
            </a:br>
            <a:r>
              <a:rPr dirty="0"/>
              <a:t>Feedback Loop:</a:t>
            </a:r>
            <a:br>
              <a:rPr dirty="0"/>
            </a:br>
            <a:r>
              <a:rPr dirty="0"/>
              <a:t>- Store user ratings and fine-tune top</a:t>
            </a:r>
            <a:r>
              <a:rPr lang="fa-IR" dirty="0"/>
              <a:t>-</a:t>
            </a:r>
            <a:r>
              <a:rPr dirty="0"/>
              <a:t>k/LLM prompts dynamically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101</TotalTime>
  <Words>404</Words>
  <Application>Microsoft Office PowerPoint</Application>
  <PresentationFormat>On-screen Show (4:3)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Impact</vt:lpstr>
      <vt:lpstr>Main Event</vt:lpstr>
      <vt:lpstr>🇫🇷 France RAG Assistant</vt:lpstr>
      <vt:lpstr>1. Chunking Strategy</vt:lpstr>
      <vt:lpstr>2. Embedding Model Selection</vt:lpstr>
      <vt:lpstr>3. Hybrid Retrieval Design</vt:lpstr>
      <vt:lpstr>4. Prompt Evolution &amp; Design</vt:lpstr>
      <vt:lpstr>5. Performance Highlights</vt:lpstr>
      <vt:lpstr>6.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Amin Kiani</cp:lastModifiedBy>
  <cp:revision>2</cp:revision>
  <dcterms:created xsi:type="dcterms:W3CDTF">2013-01-27T09:14:16Z</dcterms:created>
  <dcterms:modified xsi:type="dcterms:W3CDTF">2025-06-10T14:12:21Z</dcterms:modified>
  <cp:category/>
</cp:coreProperties>
</file>